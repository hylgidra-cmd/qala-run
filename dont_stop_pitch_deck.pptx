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22B24"/>
          </a:solidFill>
          <a:ln w="2540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411480"/>
          </a:xfrm>
          <a:prstGeom prst="roundRect">
            <a:avLst/>
          </a:prstGeom>
          <a:solidFill>
            <a:srgbClr val="193B31"/>
          </a:solidFill>
          <a:ln w="127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B800"/>
                </a:solidFill>
              </a:defRPr>
            </a:pPr>
            <a:r>
              <a:t>⚡ PRE-SEED PITCH DECK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03120"/>
            <a:ext cx="85340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E599"/>
                </a:solidFill>
              </a:defRPr>
            </a:pPr>
            <a:r>
              <a:t>DON'T STOP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Shahar sen bilan o'ynaydi: Real Geolocation Territory Capture Game</a:t>
            </a:r>
          </a:p>
          <a:p>
            <a:pPr algn="ctr">
              <a:spcBef>
                <a:spcPts val="1000"/>
              </a:spcBef>
              <a:defRPr sz="1400">
                <a:solidFill>
                  <a:srgbClr val="A7BDB4"/>
                </a:solidFill>
              </a:defRPr>
            </a:pPr>
            <a:r>
              <a:t>Yugurish, yurish va jamoaviy raqobatni birlashtiruvchi real-vaqtdagi strategik platforma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663440"/>
            <a:ext cx="2011680" cy="502920"/>
          </a:xfrm>
          <a:prstGeom prst="roundRect">
            <a:avLst/>
          </a:prstGeom>
          <a:solidFill>
            <a:srgbClr val="193B31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📍 4 ta Shaharda Faol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4663440"/>
            <a:ext cx="2011680" cy="502920"/>
          </a:xfrm>
          <a:prstGeom prst="roundRect">
            <a:avLst/>
          </a:prstGeom>
          <a:solidFill>
            <a:srgbClr val="193B31"/>
          </a:solidFill>
          <a:ln w="1270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99"/>
                </a:solidFill>
              </a:defRPr>
            </a:pPr>
            <a:r>
              <a:t>🛡️ 10 kishilik Gildiyalar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663440"/>
            <a:ext cx="2011680" cy="502920"/>
          </a:xfrm>
          <a:prstGeom prst="roundRect">
            <a:avLst/>
          </a:prstGeom>
          <a:solidFill>
            <a:srgbClr val="193B31"/>
          </a:solidFill>
          <a:ln w="127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B800"/>
                </a:solidFill>
              </a:defRPr>
            </a:pPr>
            <a:r>
              <a:t>📱 Android APK + Web 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4663440"/>
            <a:ext cx="2011680" cy="502920"/>
          </a:xfrm>
          <a:prstGeom prst="roundRect">
            <a:avLst/>
          </a:prstGeom>
          <a:solidFill>
            <a:srgbClr val="193B3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🚀 Pre-Seed Bosqichi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UMUMIY KO'RINISH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Loyihaning Asosiy Mohiyati va Noyob Qiymati (UVP)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Sport va geymifikatsiyaning kesishmasidagi yangi avlod mobil o'yini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🎯 Missiya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FFFFFF"/>
                </a:solidFill>
              </a:defRPr>
            </a:pPr>
            <a:r>
              <a:t>Yugurish va sog'lom turmush tarzini qiziqarli shahar kiber-sportiga aylantirish. Yoshlarni xonada video o'yin o'ynash o'rniga, ko'chada haqiqiy hududlar uchun bellashishga ilhomlantirish.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38328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1488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⭐ Noyob Qiymat Taklifi (UVP)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7432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FFFFFF"/>
                </a:solidFill>
              </a:defRPr>
            </a:pPr>
            <a:r>
              <a:t>Faqat quruq statistika ko'rsatuvchi odatiy ilovalardan (Strava, Nike) farqli ravishda, Don't Stop har bir yugurilgan metrni xaritadagi m² hududga va jamoaviy g'alabaga aylantiradi.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011680"/>
            <a:ext cx="338328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488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🔥 Hozirgi Holat &amp; Tayyorgarlik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7432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FFFFFF"/>
                </a:solidFill>
              </a:defRPr>
            </a:pPr>
            <a:r>
              <a:t>Loyiha to'liq ishlaydigan MVP holatida: PostGIS fazoviy arxitekturasi, Render serverlari, Live Web xaritasi va 5.1 MB hajmli Android ilovasi (APK) tayyor va sinovdan o'tgan.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BOZOR MUAMMOSI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Biz Qaysi Og'riqli Muammolarni Hal Qilamiz?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Zamonaviy shahar aholisi va yoshlar oldidagi 3 ta asosiy to'siq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123444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194560"/>
            <a:ext cx="914400" cy="868680"/>
          </a:xfrm>
          <a:prstGeom prst="roundRect">
            <a:avLst/>
          </a:prstGeom>
          <a:solidFill>
            <a:srgbClr val="193B31"/>
          </a:solidFill>
          <a:ln w="1905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4B4B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148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Motivatsiya Yetishmasligi va Zerikarlilik</a:t>
            </a:r>
          </a:p>
          <a:p>
            <a:pPr>
              <a:spcBef>
                <a:spcPts val="400"/>
              </a:spcBef>
              <a:defRPr sz="1200">
                <a:solidFill>
                  <a:srgbClr val="A7BDB4"/>
                </a:solidFill>
              </a:defRPr>
            </a:pPr>
            <a:r>
              <a:t>Odamlarning 78%i yugurishni boshlagach, 2-3 haftada tashlab ketadi. Yolg'iz yugurish zerikarli va uzoq muddatli qiziqish uyg'otmaydi.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29000"/>
            <a:ext cx="10728655" cy="123444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3611880"/>
            <a:ext cx="914400" cy="868680"/>
          </a:xfrm>
          <a:prstGeom prst="roundRect">
            <a:avLst/>
          </a:prstGeom>
          <a:solidFill>
            <a:srgbClr val="193B31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B800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566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Mavjud Ilovalarning Bir Xilligi</a:t>
            </a:r>
          </a:p>
          <a:p>
            <a:pPr>
              <a:spcBef>
                <a:spcPts val="400"/>
              </a:spcBef>
              <a:defRPr sz="1200">
                <a:solidFill>
                  <a:srgbClr val="A7BDB4"/>
                </a:solidFill>
              </a:defRPr>
            </a:pPr>
            <a:r>
              <a:t>Strava, Nike Run Club kabi gigantlar faqat quruq raqamlar (tezlik, kilometr, yurak urishi) ko'rsatadi. Ularda raqobat va o'yin mexanikasi yo'q.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0728655" cy="123444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5029200"/>
            <a:ext cx="914400" cy="868680"/>
          </a:xfrm>
          <a:prstGeom prst="roundRect">
            <a:avLst/>
          </a:prstGeom>
          <a:solidFill>
            <a:srgbClr val="193B31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E5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983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Yoshlar Kamharakatligi (Gipodinamiya)</a:t>
            </a:r>
          </a:p>
          <a:p>
            <a:pPr>
              <a:spcBef>
                <a:spcPts val="400"/>
              </a:spcBef>
              <a:defRPr sz="1200">
                <a:solidFill>
                  <a:srgbClr val="A7BDB4"/>
                </a:solidFill>
              </a:defRPr>
            </a:pPr>
            <a:r>
              <a:t>Yosh avlod kuniga 4-6 soatini video o'yinlar qarshisida o'tkazmoqda. Ular real hayotda harakatlanish uchun yetarli rag'bat topa olmayapti.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BIZNING YECHIMIMIZ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Don't Stop — Shahar Ko'chalaridagi Haqiqiy Strategiya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O'yin hayajoni + Jismoniy faollik + Jamoaviy g'urur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🗺️ Loop Capture (Hudud Egallash)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A7BDB4"/>
                </a:solidFill>
              </a:defRPr>
            </a:pPr>
            <a:r>
              <a:t>GPS orqali yopiq halqa chizib yugurasiz. Ichidagi butun maydon (m²) bir zumda sizniki yoki gildiyangizniki bo'ladi.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01168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🛡️ 10 Kishilik Gildiyalar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A7BDB4"/>
                </a:solidFill>
              </a:defRPr>
            </a:pPr>
            <a:r>
              <a:t>Har bir gildiyada maksimal 10 o'yinchi, unikal [TAG] va 10 ta vektor gerb. Katta jamoalar emas, faol guruhlar g'olib bo'ladi.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🚩 Bayroq Qadash (Anchor Flag)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9204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A7BDB4"/>
                </a:solidFill>
              </a:defRPr>
            </a:pPr>
            <a:r>
              <a:t>Yugurish boshida strategik joyga bayroq qadab, keyin aylanib kelsangiz, tizim boshlang'ich yo'lni saqlab halqani aniq yopadi.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16052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29768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🎨 GPS-Art &amp; Iz Ko'rish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9204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A7BDB4"/>
                </a:solidFill>
              </a:defRPr>
            </a:pPr>
            <a:r>
              <a:t>Yugurgan yo'lingiz shahar xaritasida san'at asariga aylanadi. Tarix modalida bosib o'tilgan izlarni qayta tomosha qilish imkoniyati.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O'YIN JARAYONI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Hududni Egallashning 4 Ta Oddiy Qadami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O'yinchi uchun qulay, orqa fonda esa qat'iy geodezik hisob-kitoblar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94560"/>
            <a:ext cx="219456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QADAM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Marshrutni Tanlang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00">
                <a:solidFill>
                  <a:srgbClr val="A7BDB4"/>
                </a:solidFill>
              </a:defRPr>
            </a:pPr>
            <a:r>
              <a:t>Ilovada xaritani ochasiz, shahringizdagi o'zingiz egallamoqchi bo'lgan kvartal yoki ko'chalarni belgilaysiz.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2194560"/>
            <a:ext cx="219456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99"/>
                </a:solidFill>
              </a:defRPr>
            </a:pPr>
            <a:r>
              <a:t>QADAM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Yugurishni Boshlang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00">
                <a:solidFill>
                  <a:srgbClr val="A7BDB4"/>
                </a:solidFill>
              </a:defRPr>
            </a:pPr>
            <a:r>
              <a:t>Start tugmasini bosib harakatlanasiz. GPS koordinatalari real vaqtda orqa fonda ekranni o'chirgan holda ham yoziladi.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2194560"/>
            <a:ext cx="219456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B800"/>
                </a:solidFill>
              </a:defRPr>
            </a:pPr>
            <a:r>
              <a:t>QADAM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Halqani Yoping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00">
                <a:solidFill>
                  <a:srgbClr val="A7BDB4"/>
                </a:solidFill>
              </a:defRPr>
            </a:pPr>
            <a:r>
              <a:t>Boshlagan nuqtangizga qaytib kelasiz yoki Lollipop algoritmi orqali yopiq halqa hosil qilib, Finish tugmasini bosasiz.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06840" y="2194560"/>
            <a:ext cx="219456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QADAM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Hudud Sizniki!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00">
                <a:solidFill>
                  <a:srgbClr val="A7BDB4"/>
                </a:solidFill>
              </a:defRPr>
            </a:pPr>
            <a:r>
              <a:t>Tizim binolar va xususiy joylarni avtomatik chiqarib tashlab, toza yer maydonini (m²) hisoblaydi va reytingga qo'shadi.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TEXNIK USTUNLIK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Mustahkam Texnologik Arxitektura va Anti-Chit Tizimi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Aldovlarsiz, xavfsiz va aniq geolokatsion hisob-kitoblar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🛡️ Ko'p Bosqichli Anti-Chit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4800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A7BDB4"/>
                </a:solidFill>
              </a:defRPr>
            </a:pPr>
            <a:r>
              <a:t>• Fake GPS va emulyatorlarni avtomatik aniqlash</a:t>
            </a:r>
            <a:br/>
            <a:r>
              <a:t>• Teleport tezligini cheklash (&gt;15 m/s bloklanadi)</a:t>
            </a:r>
            <a:br/>
            <a:r>
              <a:t>• Kalman filtri va EMA orqali GPS sakrashlarini silliqlash</a:t>
            </a:r>
            <a:br/>
            <a:r>
              <a:t>• Harakat turini aniqlash (avtomobil yoki velosipedda yurishni cheklash)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01168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🗺️ PostGIS Fazoviy Matematika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800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A7BDB4"/>
                </a:solidFill>
              </a:defRPr>
            </a:pPr>
            <a:r>
              <a:t>• ST_Difference orqali binolar, maktablar va harbiy zonalarni chegirish</a:t>
            </a:r>
            <a:br/>
            <a:r>
              <a:t>• Lollipop loop ekstraktori: dastlabki yo'lni saqlab, aylana qismini maydon qilish</a:t>
            </a:r>
            <a:br/>
            <a:r>
              <a:t>• ST_Area orqali millisekundlarda aniq kvadrat metr (m²) hisoblash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🔒 200m Maxfiylik Zonasi (Privacy)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00600"/>
            <a:ext cx="4800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A7BDB4"/>
                </a:solidFill>
              </a:defRPr>
            </a:pPr>
            <a:r>
              <a:t>• O'yinchining uy yoki ish joyi atrofida 200 metrli shaxsiy zona belgilanadi</a:t>
            </a:r>
            <a:br/>
            <a:r>
              <a:t>• Mazkur zonadagi yugurish koordinatalari boshqa o'yinchilarga ko'rinmaydi</a:t>
            </a:r>
            <a:br/>
            <a:r>
              <a:t>• Foydalanuvchilar xavfsizligi va shaxsiy hayot daxlsizligi to'liq himoyalangan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16052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29768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⚡ Avtonom va Ofline Bufer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00600"/>
            <a:ext cx="4800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A7BDB4"/>
                </a:solidFill>
              </a:defRPr>
            </a:pPr>
            <a:r>
              <a:t>• Internet uzilib qolsa ham yugurish nuqtalari lokal xotirada saqlanadi</a:t>
            </a:r>
            <a:br/>
            <a:r>
              <a:t>• Internet qaytishi bilan avtomatik serverga sinxronizatsiya qilinadi</a:t>
            </a:r>
            <a:br/>
            <a:r>
              <a:t>• Android Foreground Service: Ekran o'chiq holatda ham batareyani tejab GPS yozish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HOZIRGI BOSQICH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Don't Stop Bugun: 4 Ta Faol Shahar Xaritasi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Loyihamiz MVP darajasida quyidagi 4 ta strategik shaharda to'liq sozlangan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99"/>
                </a:solidFill>
              </a:defRPr>
            </a:pPr>
            <a:r>
              <a:t>NÓKIS (Nukus)</a:t>
            </a:r>
          </a:p>
          <a:p>
            <a:pPr>
              <a:spcBef>
                <a:spcPts val="200"/>
              </a:spcBef>
              <a:defRPr sz="1000">
                <a:solidFill>
                  <a:srgbClr val="A7BDB4"/>
                </a:solidFill>
              </a:defRPr>
            </a:pPr>
            <a:r>
              <a:t>Qoraqalpog'iston • Pilot Hudud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👥 Aholi: ~350,000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100">
                <a:solidFill>
                  <a:srgbClr val="A7BDB4"/>
                </a:solidFill>
              </a:defRPr>
            </a:pPr>
            <a:r>
              <a:t>Boshlang'ich test maydoni. Shahar koordinatalari, binolar kesimi va exclusion zonalari 100% integratsiya qilingan.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TOSHKENT (Tashkent)</a:t>
            </a:r>
          </a:p>
          <a:p>
            <a:pPr>
              <a:spcBef>
                <a:spcPts val="200"/>
              </a:spcBef>
              <a:defRPr sz="1000">
                <a:solidFill>
                  <a:srgbClr val="A7BDB4"/>
                </a:solidFill>
              </a:defRPr>
            </a:pPr>
            <a:r>
              <a:t>O'zbekiston Poytaxti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👥 Aholi: ~3,000,000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100">
                <a:solidFill>
                  <a:srgbClr val="A7BDB4"/>
                </a:solidFill>
              </a:defRPr>
            </a:pPr>
            <a:r>
              <a:t>Eng yirik metropolitan bozor. Talabalar, yugurish klublari va IT-hamjamiyat uchun asosiy maydon.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19456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</a:defRPr>
            </a:pPr>
            <a:r>
              <a:t>ALMATY (Olmaota)</a:t>
            </a:r>
          </a:p>
          <a:p>
            <a:pPr>
              <a:spcBef>
                <a:spcPts val="200"/>
              </a:spcBef>
              <a:defRPr sz="1000">
                <a:solidFill>
                  <a:srgbClr val="A7BDB4"/>
                </a:solidFill>
              </a:defRPr>
            </a:pPr>
            <a:r>
              <a:t>Qozog'iston Metropolisi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👥 Aholi: ~2,200,000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100">
                <a:solidFill>
                  <a:srgbClr val="A7BDB4"/>
                </a:solidFill>
              </a:defRPr>
            </a:pPr>
            <a:r>
              <a:t>Markaziy Osiyodagi eng faol sport shaharlaridan biri. Tog' va park yuguruvchilari uchun ulkan imkoniyat.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19456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ISTANBUL (Istanbul)</a:t>
            </a:r>
          </a:p>
          <a:p>
            <a:pPr>
              <a:spcBef>
                <a:spcPts val="200"/>
              </a:spcBef>
              <a:defRPr sz="1000">
                <a:solidFill>
                  <a:srgbClr val="A7BDB4"/>
                </a:solidFill>
              </a:defRPr>
            </a:pPr>
            <a:r>
              <a:t>Turkiya Megapolisi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👥 Aholi: ~16,000,000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100">
                <a:solidFill>
                  <a:srgbClr val="A7BDB4"/>
                </a:solidFill>
              </a:defRPr>
            </a:pPr>
            <a:r>
              <a:t>Yevropa va Osiyo chorrahasi. Global bozorga chiqish va kengaytirish uchun sinov platformasi.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GEOGRAFIK EKSPANSIYA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Keyingi Bosqich: Aholisi Ko'p Strategik Shaharlar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O'zbekiston viloyat markazlari va Markaziy Osiyo poytaxtlariga kengayish tahlili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5780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🇺🇿 O'zbekiston Yirik Shaharlari (1-Bosqich)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892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Samarqand (~600,000): Turizm va yoshlar markazi, faol yugurish jamoalari</a:t>
            </a:r>
          </a:p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Namangan (~700,000): O'zbekistonning aholi soni bo'yicha 2-yirik megapolisi</a:t>
            </a:r>
          </a:p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Andijon (~450,000): Aholi zichligi eng yuqori bo'lgan faol shahar</a:t>
            </a:r>
          </a:p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Buxoro (~300,000): Madaniy markaz, park va ochiq hududlar ko'pligi</a:t>
            </a:r>
          </a:p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Farg'ona (~350,000): Yoshlar ulushi yuqori va rivojlangan infratuzilma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011680"/>
            <a:ext cx="525780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🌏 Markaziy Osiyo Megapolislari (2-Bosqich)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560320"/>
            <a:ext cx="4892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Astana (Qozog'iston) (~1,400,000): Poytaxt, yirik marafonlar va parklar markazi</a:t>
            </a:r>
          </a:p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Shymkent (Qozog'iston) (~1,200,000): Janubiy megapolis, yosh va sportsevar aholi</a:t>
            </a:r>
          </a:p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Bishkek (Qirg'iziston) (~1,150,000): Faol yugurish madaniyati va ochiq shahar</a:t>
            </a:r>
          </a:p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Dushanbe (Tojikiston) (~1,000,000): Tez o'sayotgan poytaxt va yoshlar qatlami</a:t>
            </a:r>
          </a:p>
          <a:p>
            <a:pPr>
              <a:spcBef>
                <a:spcPts val="1200"/>
              </a:spcBef>
              <a:defRPr sz="1100" b="1">
                <a:solidFill>
                  <a:srgbClr val="FFB800"/>
                </a:solidFill>
              </a:defRPr>
            </a:pPr>
            <a:r>
              <a:t>🎯 Nega bu shaharlar? Aholi zichligi yuqori, 60%+ aholisi 30 yoshgacha bo'lgan yoshlar va internet qamrovi 90%+.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BOZOR HAJMI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Target Market: TAM, SAM, SOM Tahlili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Fitness ilovalari va geymifikatsiya bozorining tez o'sish sur'atlari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TAM: $35.7 Mld</a:t>
            </a:r>
          </a:p>
          <a:p>
            <a:pPr>
              <a:spcBef>
                <a:spcPts val="400"/>
              </a:spcBef>
              <a:defRPr sz="1200">
                <a:solidFill>
                  <a:srgbClr val="FFB800"/>
                </a:solidFill>
              </a:defRPr>
            </a:pPr>
            <a:r>
              <a:t>Total Addressable Market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200">
                <a:solidFill>
                  <a:srgbClr val="A7BDB4"/>
                </a:solidFill>
              </a:defRPr>
            </a:pPr>
            <a:r>
              <a:t>Global miqyosdagi Fitness va M-Health (mobil sog'liqni saqlash) hamda geymifikatsiya bozori. Yillik o'sish (CAGR) 17.6%.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338328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SAM: $140 Mln</a:t>
            </a:r>
          </a:p>
          <a:p>
            <a:pPr>
              <a:spcBef>
                <a:spcPts val="400"/>
              </a:spcBef>
              <a:defRPr sz="1200">
                <a:solidFill>
                  <a:srgbClr val="FFB800"/>
                </a:solidFill>
              </a:defRPr>
            </a:pPr>
            <a:r>
              <a:t>Serviceable Addressable Market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200">
                <a:solidFill>
                  <a:srgbClr val="A7BDB4"/>
                </a:solidFill>
              </a:defRPr>
            </a:pPr>
            <a:r>
              <a:t>Markaziy Osiyo, MDH va Turkiya mintaqasidagi 16–35 yoshli smartfon foydalanuvchilari va faol sport ixlosmandlari bozori.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011680"/>
            <a:ext cx="338328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599"/>
                </a:solidFill>
              </a:defRPr>
            </a:pPr>
            <a:r>
              <a:t>SOM: $15 Mln</a:t>
            </a:r>
          </a:p>
          <a:p>
            <a:pPr>
              <a:spcBef>
                <a:spcPts val="400"/>
              </a:spcBef>
              <a:defRPr sz="1200">
                <a:solidFill>
                  <a:srgbClr val="FFB800"/>
                </a:solidFill>
              </a:defRPr>
            </a:pPr>
            <a:r>
              <a:t>Serviceable Obtainable Market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200">
                <a:solidFill>
                  <a:srgbClr val="A7BDB4"/>
                </a:solidFill>
              </a:defRPr>
            </a:pPr>
            <a:r>
              <a:t>Dastlabki 3 yilda O'zbekiston va Qozog'istonda erishilishi maqsad qilingan 1.5M+ foydalanuvchi va B2B hamkorliklar ulushi.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BIZNES MODELI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Monetizatsiya va Daromad Olish Mexanizmlari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Freemium, B2B korporativ reklama va in-game xaridlar balansi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01. Freemium &amp; Battle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800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A7BDB4"/>
                </a:solidFill>
              </a:defRPr>
            </a:pPr>
            <a:r>
              <a:t>• Baza bepul: har kim yugurib hudud egallashi mumkin</a:t>
            </a:r>
            <a:br/>
            <a:r>
              <a:t>• Battle Pass ($2.99 / oy): Maxsus mavsumiy kvestlar</a:t>
            </a:r>
            <a:br/>
            <a:r>
              <a:t>• Premium obuna ($4.99 / oy): Chuqur analitika va cheksiz maxfiylik zonalari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01168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02. In-App Xaridlar (Klan &amp; Skin)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06040"/>
            <a:ext cx="4800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A7BDB4"/>
                </a:solidFill>
              </a:defRPr>
            </a:pPr>
            <a:r>
              <a:t>• Eksklyuziv Vektor Gerblar va maxsus klan ranglari</a:t>
            </a:r>
            <a:br/>
            <a:r>
              <a:t>• Bayroq dizaynlari va shaxsiy avatar modifikatsiyalari</a:t>
            </a:r>
            <a:br/>
            <a:r>
              <a:t>• Hududni 2x tezroq qaytarib olish uchun o'yin buyumlari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03. B2B Geo-Reklama &amp; Homiylik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54880"/>
            <a:ext cx="4800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A7BDB4"/>
                </a:solidFill>
              </a:defRPr>
            </a:pPr>
            <a:r>
              <a:t>• Mahalliy kafelar, sport do'konlari uchun «Homiylik Hududlari»</a:t>
            </a:r>
            <a:br/>
            <a:r>
              <a:t>• Brend egallangan hududda yugurganlarga maxsus chegirmalar beradi</a:t>
            </a:r>
            <a:br/>
            <a:r>
              <a:t>• RedBull, Nike kabi sport brendlari bilan korporativ turnirlar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16052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29768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04. Korporativ Wellness Ligalari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754880"/>
            <a:ext cx="4800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A7BDB4"/>
                </a:solidFill>
              </a:defRPr>
            </a:pPr>
            <a:r>
              <a:t>• Kompaniyalar xodimlari salomatligi uchun ichki jamoaviy chellenjlar</a:t>
            </a:r>
            <a:br/>
            <a:r>
              <a:t>• B2B obuna modeli: korporativ lidlar va kompaniyalar o'rtasidagi shahar ligasi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RAQOBAT TAHLILI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Nega Don't Stop Raqobatchilardan Ustun?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Mavjud bozor ishtirokchilari bilan solishtirma tahlil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1920240"/>
                <a:gridCol w="1920240"/>
                <a:gridCol w="2011680"/>
              </a:tblGrid>
              <a:tr h="822960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Xususiyat / Funksiya</a:t>
                      </a:r>
                    </a:p>
                  </a:txBody>
                  <a:tcPr>
                    <a:solidFill>
                      <a:srgbClr val="193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D1F1A"/>
                          </a:solidFill>
                        </a:defRPr>
                      </a:pPr>
                      <a:r>
                        <a:t>Don't Stop</a:t>
                      </a:r>
                    </a:p>
                  </a:txBody>
                  <a:tcPr>
                    <a:solidFill>
                      <a:srgbClr val="00E5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Strava</a:t>
                      </a:r>
                    </a:p>
                  </a:txBody>
                  <a:tcPr>
                    <a:solidFill>
                      <a:srgbClr val="193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Nike Run Club</a:t>
                      </a:r>
                    </a:p>
                  </a:txBody>
                  <a:tcPr>
                    <a:solidFill>
                      <a:srgbClr val="193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Pokemon GO</a:t>
                      </a:r>
                    </a:p>
                  </a:txBody>
                  <a:tcPr>
                    <a:solidFill>
                      <a:srgbClr val="193B3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Real Hudud Egallash (m²)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 Bor (Real-Time)</a:t>
                      </a:r>
                    </a:p>
                  </a:txBody>
                  <a:tcPr>
                    <a:solidFill>
                      <a:srgbClr val="193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❌ Yo'q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❌ Yo'q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⚠️ Faqat nuqtalar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10-Kishilik Klan Janglari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 Bor (Gerblar)</a:t>
                      </a:r>
                    </a:p>
                  </a:txBody>
                  <a:tcPr>
                    <a:solidFill>
                      <a:srgbClr val="193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❌ Faqat guruhlar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❌ Yo'q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⚠️ 3 ta fraksiya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Anti-Chit &amp; Fake GPS Himoya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 Ko'p bosqichli</a:t>
                      </a:r>
                    </a:p>
                  </a:txBody>
                  <a:tcPr>
                    <a:solidFill>
                      <a:srgbClr val="193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⚠️ Qisman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❌ Oddiy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E599"/>
                          </a:solidFill>
                        </a:defRPr>
                      </a:pPr>
                      <a:r>
                        <a:t>✅ Bor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Lokal Til &amp; Narxlar (UZ/RU)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 100% Moslashgan</a:t>
                      </a:r>
                    </a:p>
                  </a:txBody>
                  <a:tcPr>
                    <a:solidFill>
                      <a:srgbClr val="193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❌ Faqat RU/EN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❌ Faqat EN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❌ Moslashmagan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RIVOJLANISH REJASI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O'sish va Masshtablash Xaritasi (Roadmap)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3 oydan 5 yilgacha bo'lgan bosqichma-bosqich o'sish traektoriyasi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05740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194560"/>
            <a:ext cx="178308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3 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MVP &amp; Test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000">
                <a:solidFill>
                  <a:srgbClr val="A7BDB4"/>
                </a:solidFill>
              </a:defRPr>
            </a:pPr>
            <a:r>
              <a:t>• O'zbekistonda beta-test (5,000 foydalanuvchi)</a:t>
            </a:r>
            <a:br/>
            <a:r>
              <a:t>• Google Play va App Store relizi</a:t>
            </a:r>
            <a:br/>
            <a:r>
              <a:t>• Samarqand va Namangan shaharlarini ochish</a:t>
            </a:r>
            <a:br/>
            <a:r>
              <a:t>• Dastlabki klan chempionatlari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011680"/>
            <a:ext cx="205740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17520" y="2194560"/>
            <a:ext cx="178308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599"/>
                </a:solidFill>
              </a:defRPr>
            </a:pPr>
            <a:r>
              <a:t>9 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7432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Monetizatsiya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000">
                <a:solidFill>
                  <a:srgbClr val="A7BDB4"/>
                </a:solidFill>
              </a:defRPr>
            </a:pPr>
            <a:r>
              <a:t>• 50,000 faol foydalanuvchi (MAU)</a:t>
            </a:r>
            <a:br/>
            <a:r>
              <a:t>• O'zbekistonning 8 ta yirik shahrini qamrash</a:t>
            </a:r>
            <a:br/>
            <a:r>
              <a:t>• Battle Pass va in-app to'lovlarni ishga tushirish</a:t>
            </a:r>
            <a:br/>
            <a:r>
              <a:t>• Dastlabki 10 ta B2B brend hamkorligi ($5k MRR)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011680"/>
            <a:ext cx="205740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6360" y="2194560"/>
            <a:ext cx="178308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B800"/>
                </a:solidFill>
              </a:defRPr>
            </a:pPr>
            <a:r>
              <a:t>1 YIL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7432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Markaziy Osiyo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000">
                <a:solidFill>
                  <a:srgbClr val="A7BDB4"/>
                </a:solidFill>
              </a:defRPr>
            </a:pPr>
            <a:r>
              <a:t>• 150,000 foydalanuvchi</a:t>
            </a:r>
            <a:br/>
            <a:r>
              <a:t>• Qozog'iston (Ostona, Chimkent) va Qirg'iziston (Bishkek)</a:t>
            </a:r>
            <a:br/>
            <a:r>
              <a:t>• Birinchi Xalqaro Don't Stop Liga Turniri</a:t>
            </a:r>
            <a:br/>
            <a:r>
              <a:t>• $25,000 oylik daromad (MRR)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2011680"/>
            <a:ext cx="205740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0" y="2194560"/>
            <a:ext cx="178308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 YIL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7432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MDH &amp; Turkiya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000">
                <a:solidFill>
                  <a:srgbClr val="A7BDB4"/>
                </a:solidFill>
              </a:defRPr>
            </a:pPr>
            <a:r>
              <a:t>• 1,000,000+ faol o'yinchi</a:t>
            </a:r>
            <a:br/>
            <a:r>
              <a:t>• Turkiya, Ozarbayjon va Sharqiy Yevropa bozorlari</a:t>
            </a:r>
            <a:br/>
            <a:r>
              <a:t>• Sun'iy intellekt (AI) shaxsiy murabbiy moduli</a:t>
            </a:r>
            <a:br/>
            <a:r>
              <a:t>• $250,000 oylik daromad (MRR)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2011680"/>
            <a:ext cx="205740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64040" y="2194560"/>
            <a:ext cx="178308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599"/>
                </a:solidFill>
              </a:defRPr>
            </a:pPr>
            <a:r>
              <a:t>5 YIL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7432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Global Ekotizim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000">
                <a:solidFill>
                  <a:srgbClr val="A7BDB4"/>
                </a:solidFill>
              </a:defRPr>
            </a:pPr>
            <a:r>
              <a:t>• 5,000,000+ global foydalanuvchi</a:t>
            </a:r>
            <a:br/>
            <a:r>
              <a:t>• Yaqin Sharq va Janubi-Sharqiy Osiyoga kengayish</a:t>
            </a:r>
            <a:br/>
            <a:r>
              <a:t>• Dunyo bo'ylab korporativ kiber-sport fitnes ligasi</a:t>
            </a:r>
            <a:br/>
            <a:r>
              <a:t>• $1,500,000+ oylik daromad (MRR)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MOLIYAVIY REJA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Investitsiya Ehtiyoji va Mablag'lar Taqsimoti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Pre-Seed raundda $25,000 – $50,000 jalb qilish rejasi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E599"/>
                </a:solidFill>
              </a:defRPr>
            </a:pPr>
            <a:r>
              <a:t>40%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Mahsulot va R&amp;D</a:t>
            </a:r>
          </a:p>
          <a:p>
            <a:pPr>
              <a:lnSpc>
                <a:spcPct val="125000"/>
              </a:lnSpc>
              <a:spcBef>
                <a:spcPts val="1000"/>
              </a:spcBef>
              <a:defRPr sz="1100">
                <a:solidFill>
                  <a:srgbClr val="A7BDB4"/>
                </a:solidFill>
              </a:defRPr>
            </a:pPr>
            <a:r>
              <a:t>• iOS (Swift/Capacitor) ilovasini to'liq chiqarish</a:t>
            </a:r>
            <a:br/>
            <a:r>
              <a:t>• AI marshrut generatori va anti-chit modellarini o'rgatish</a:t>
            </a:r>
            <a:br/>
            <a:r>
              <a:t>• Bulutli serverlar va PostGIS quvvatini kengaytirish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E5FF"/>
                </a:solidFill>
              </a:defRPr>
            </a:pPr>
            <a:r>
              <a:t>35%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Marketing va Foydalanuvchilar</a:t>
            </a:r>
          </a:p>
          <a:p>
            <a:pPr>
              <a:lnSpc>
                <a:spcPct val="125000"/>
              </a:lnSpc>
              <a:spcBef>
                <a:spcPts val="1000"/>
              </a:spcBef>
              <a:defRPr sz="1100">
                <a:solidFill>
                  <a:srgbClr val="A7BDB4"/>
                </a:solidFill>
              </a:defRPr>
            </a:pPr>
            <a:r>
              <a:t>• Universitetlar va yugurish klublari bilan hamkorlik</a:t>
            </a:r>
            <a:br/>
            <a:r>
              <a:t>• Shaxsiy blogerlar va marafonchilar orqali promo</a:t>
            </a:r>
            <a:br/>
            <a:r>
              <a:t>• Ilk shahar turnirlari uchun mukofot jamg'armasi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19456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B800"/>
                </a:solidFill>
              </a:defRPr>
            </a:pPr>
            <a:r>
              <a:t>15%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Jamoani Kengaytirish</a:t>
            </a:r>
          </a:p>
          <a:p>
            <a:pPr>
              <a:lnSpc>
                <a:spcPct val="125000"/>
              </a:lnSpc>
              <a:spcBef>
                <a:spcPts val="1000"/>
              </a:spcBef>
              <a:defRPr sz="1100">
                <a:solidFill>
                  <a:srgbClr val="A7BDB4"/>
                </a:solidFill>
              </a:defRPr>
            </a:pPr>
            <a:r>
              <a:t>• Qo'shimcha Mobile (iOS/Android) dasturchi jalb qilish</a:t>
            </a:r>
            <a:br/>
            <a:r>
              <a:t>• UI/UX dizayner va Community Manager yollash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19456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10%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Operatsion &amp; Yuridik</a:t>
            </a:r>
          </a:p>
          <a:p>
            <a:pPr>
              <a:lnSpc>
                <a:spcPct val="125000"/>
              </a:lnSpc>
              <a:spcBef>
                <a:spcPts val="1000"/>
              </a:spcBef>
              <a:defRPr sz="1100">
                <a:solidFill>
                  <a:srgbClr val="A7BDB4"/>
                </a:solidFill>
              </a:defRPr>
            </a:pPr>
            <a:r>
              <a:t>• Yuridik ro'yxatdan o'tkazish, intellektual mulk himoyasi</a:t>
            </a:r>
            <a:br/>
            <a:r>
              <a:t>• Xaritalar (MapLibre/OpenMapTiles) litsenziyalari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XULOSA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Biz Bilan Birga Shaharlarni Harakatga Keltiring!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Biz sog'lom jamiyat va yangi avlod sport o'yinini yaratmoqdamiz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94360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🚀 Nega Hozir Eng To'g'ri Vaqt?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5394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✅ Ishlaydigan MVP tayyor: Web va Android APK hoziroq qo'lingizda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✅ O'zbekistonda yugurish va sog'lom turmush tarzi ommalashmoqda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✅ Yoshlar ulushi 60%+ — mobil o'yinlar va raqobatga kuchli qiziqish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✅ B2B bozorida geolokatsion brendingga katta talab mavjud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✅ Xalqaro bozorlarga (Qozog'iston, Turkiya) kengayish oson va tez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011680"/>
            <a:ext cx="4510735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148840"/>
            <a:ext cx="414497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📱 Aloqa va Havolalar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560320"/>
            <a:ext cx="4023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FFB800"/>
                </a:solidFill>
              </a:defRPr>
            </a:pPr>
            <a:r>
              <a:t>🌐 Veb-sayt (Landing):</a:t>
            </a:r>
          </a:p>
          <a:p>
            <a:pPr>
              <a:spcBef>
                <a:spcPts val="100"/>
              </a:spcBef>
              <a:defRPr sz="1100" b="1">
                <a:solidFill>
                  <a:srgbClr val="00E5FF"/>
                </a:solidFill>
              </a:defRPr>
            </a:pPr>
            <a:r>
              <a:t>https://hylgidra-cmd.github.io/dont-stop-landing/</a:t>
            </a:r>
          </a:p>
          <a:p>
            <a:pPr>
              <a:spcBef>
                <a:spcPts val="600"/>
              </a:spcBef>
              <a:defRPr sz="1200" b="1">
                <a:solidFill>
                  <a:srgbClr val="FFB800"/>
                </a:solidFill>
              </a:defRPr>
            </a:pPr>
            <a:r>
              <a:t>🗺️ Jonli Xarita (Live Demo):</a:t>
            </a:r>
          </a:p>
          <a:p>
            <a:pPr>
              <a:spcBef>
                <a:spcPts val="100"/>
              </a:spcBef>
              <a:defRPr sz="1100" b="1">
                <a:solidFill>
                  <a:srgbClr val="00E5FF"/>
                </a:solidFill>
              </a:defRPr>
            </a:pPr>
            <a:r>
              <a:t>https://qalarun-web.onrender.com</a:t>
            </a:r>
          </a:p>
          <a:p>
            <a:pPr>
              <a:spcBef>
                <a:spcPts val="600"/>
              </a:spcBef>
              <a:defRPr sz="1200" b="1">
                <a:solidFill>
                  <a:srgbClr val="FFB800"/>
                </a:solidFill>
              </a:defRPr>
            </a:pPr>
            <a:r>
              <a:t>📱 Android APK:</a:t>
            </a:r>
          </a:p>
          <a:p>
            <a:pPr>
              <a:spcBef>
                <a:spcPts val="100"/>
              </a:spcBef>
              <a:defRPr sz="1100">
                <a:solidFill>
                  <a:srgbClr val="FFFFFF"/>
                </a:solidFill>
              </a:defRPr>
            </a:pPr>
            <a:r>
              <a:t>dontstop-debug.apk (Loyiha papkasida va GitHub'da)</a:t>
            </a:r>
          </a:p>
          <a:p>
            <a:pPr>
              <a:spcBef>
                <a:spcPts val="600"/>
              </a:spcBef>
              <a:defRPr sz="1200" b="1">
                <a:solidFill>
                  <a:srgbClr val="FFB800"/>
                </a:solidFill>
              </a:defRPr>
            </a:pPr>
            <a:r>
              <a:t>💬 Hamkorlik:</a:t>
            </a:r>
          </a:p>
          <a:p>
            <a:pPr>
              <a:spcBef>
                <a:spcPts val="100"/>
              </a:spcBef>
              <a:defRPr sz="1100">
                <a:solidFill>
                  <a:srgbClr val="FFFFFF"/>
                </a:solidFill>
              </a:defRPr>
            </a:pPr>
            <a:r>
              <a:t>Aloqa va takliflar uchun doim ochiqmiz!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